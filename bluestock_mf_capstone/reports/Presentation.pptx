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Cambria" panose="02040503050406030204" pitchFamily="18" charset="0"/>
      <p:regular r:id="rId15"/>
      <p:bold r:id="rId16"/>
      <p:italic r:id="rId17"/>
      <p:boldItalic r:id="rId18"/>
    </p:embeddedFont>
    <p:embeddedFont>
      <p:font typeface="Inter" panose="020B0604020202020204" charset="0"/>
      <p:regular r:id="rId19"/>
      <p:bold r:id="rId20"/>
      <p:italic r:id="rId21"/>
      <p:boldItalic r:id="rId22"/>
    </p:embeddedFont>
    <p:embeddedFont>
      <p:font typeface="Montserrat" panose="00000500000000000000" pitchFamily="2" charset="0"/>
      <p:regular r:id="rId23"/>
      <p:bold r:id="rId24"/>
      <p:italic r:id="rId25"/>
      <p:boldItalic r:id="rId26"/>
    </p:embeddedFont>
    <p:embeddedFont>
      <p:font typeface="Montserrat ExtraBold" panose="00000900000000000000" pitchFamily="2" charset="0"/>
      <p:bold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6AF7AA-1D53-4988-9836-63EAF89E8BC0}">
  <a:tblStyle styleId="{1A6AF7AA-1D53-4988-9836-63EAF89E8BC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4" name="Google Shape;2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644950" y="411048"/>
            <a:ext cx="5200800" cy="3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 dirty="0">
                <a:solidFill>
                  <a:srgbClr val="0A254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Bluestock Mutual Fund Analytics Platform</a:t>
            </a:r>
            <a:endParaRPr dirty="0"/>
          </a:p>
        </p:txBody>
      </p:sp>
      <p:sp>
        <p:nvSpPr>
          <p:cNvPr id="85" name="Google Shape;85;p13"/>
          <p:cNvSpPr txBox="1"/>
          <p:nvPr/>
        </p:nvSpPr>
        <p:spPr>
          <a:xfrm>
            <a:off x="752550" y="3758056"/>
            <a:ext cx="520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20C997"/>
                </a:solidFill>
                <a:latin typeface="Montserrat"/>
                <a:ea typeface="Montserrat"/>
                <a:cs typeface="Montserrat"/>
                <a:sym typeface="Montserrat"/>
              </a:rPr>
              <a:t>End-to-End Data Pipeline &amp; Quantitative Strategy</a:t>
            </a:r>
            <a:endParaRPr dirty="0"/>
          </a:p>
        </p:txBody>
      </p:sp>
      <p:pic>
        <p:nvPicPr>
          <p:cNvPr id="86" name="Google Shape;86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990600" y="4920406"/>
            <a:ext cx="47244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A2540"/>
                </a:solidFill>
                <a:latin typeface="Inter"/>
                <a:ea typeface="Inter"/>
                <a:cs typeface="Inter"/>
                <a:sym typeface="Inter"/>
              </a:rPr>
              <a:t>Prepared By: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Data Analyst Intern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90600" y="5242321"/>
            <a:ext cx="47244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A2540"/>
                </a:solidFill>
                <a:latin typeface="Inter"/>
                <a:ea typeface="Inter"/>
                <a:cs typeface="Inter"/>
                <a:sym typeface="Inter"/>
              </a:rPr>
              <a:t>Company: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Bluestock Fintech Pvt. Ltd.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990600" y="5564237"/>
            <a:ext cx="47244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A2540"/>
                </a:solidFill>
                <a:latin typeface="Inter"/>
                <a:ea typeface="Inter"/>
                <a:cs typeface="Inter"/>
                <a:sym typeface="Inter"/>
              </a:rPr>
              <a:t>Scope: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40 Top Schemes | 87K+ Rows | 4.5 Years of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710779"/>
            <a:ext cx="5238750" cy="4284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10779"/>
            <a:ext cx="5238750" cy="428416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The Problem &amp; Our Objective</a:t>
            </a:r>
            <a:endParaRPr/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7750" y="223465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1047750" y="2977604"/>
            <a:ext cx="450056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The Problem</a:t>
            </a:r>
            <a:endParaRPr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58000" y="223465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6858000" y="2977604"/>
            <a:ext cx="450056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The Objective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333500" y="3491954"/>
            <a:ext cx="40005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Indian mutual fund market is booming, but data is highly fragmented across disparate APIs and PDFs.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333500" y="4505325"/>
            <a:ext cx="40005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Retail investors lack unified, quantitative tools to accurately compare risk-adjusted returns (Sharpe, Alpha) against benchmarks.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143750" y="3491954"/>
            <a:ext cx="4000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Build an automated end-to-end ETL pipeline and a centralized SQLite data warehouse.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143750" y="4231034"/>
            <a:ext cx="40005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Develop an interactive BI dashboard to rank 40 top-performing funds using advanced financial risk metrics.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7750" y="3511004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7750" y="4524375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58000" y="3511004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58000" y="4250084"/>
            <a:ext cx="857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Data Sources &amp; Quality Assurance</a:t>
            </a:r>
            <a:endParaRPr/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2025" y="2460426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77025" y="2460426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44815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44815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1724025" y="2412801"/>
            <a:ext cx="398049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Live API Integration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724025" y="2784276"/>
            <a:ext cx="37909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Extracted 46,000+ daily NAV records via mfapi.in REST API.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296150" y="2412801"/>
            <a:ext cx="4130516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AMFI Master Registry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7296150" y="2784276"/>
            <a:ext cx="39338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Curated metadata and performance history for 40 top-performing mutual fund schemes.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628775" y="4433887"/>
            <a:ext cx="408051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Macro &amp; Investor Data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628775" y="4805362"/>
            <a:ext cx="38862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Synthesized 32,000+ transaction records, SIP inflow trends, and folio growth metrics.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343775" y="4433887"/>
            <a:ext cx="408051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Data Quality Assurance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343775" y="4805362"/>
            <a:ext cx="38862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Applied automated forward-filling (ffill) to resolve NAV gaps during non-trading weekends.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19225"/>
            <a:ext cx="11049000" cy="486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System Architecture &amp; ETL Pipeline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566862"/>
            <a:ext cx="607695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Macro Trends: The SIP Surge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7219950" y="2046208"/>
            <a:ext cx="44007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20C99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₹31,002 Cr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7219950" y="3080444"/>
            <a:ext cx="44005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All-Time High SIP Inflow (Dec 2025)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7219950" y="4137719"/>
            <a:ext cx="4400550" cy="1165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Indian mutual fund industry surpassed ₹81 Lakh Crore in AUM, with Systematic Investment Plans emerging as the primary driver of consistent, robust capital inflows across the nation.</a:t>
            </a:r>
            <a:endParaRPr/>
          </a:p>
        </p:txBody>
      </p:sp>
      <p:pic>
        <p:nvPicPr>
          <p:cNvPr id="141" name="Google Shape;141;p17"/>
          <p:cNvPicPr preferRelativeResize="0"/>
          <p:nvPr/>
        </p:nvPicPr>
        <p:blipFill rotWithShape="1">
          <a:blip r:embed="rId4">
            <a:alphaModFix/>
          </a:blip>
          <a:srcRect l="5262" t="13096" r="5707" b="4849"/>
          <a:stretch/>
        </p:blipFill>
        <p:spPr>
          <a:xfrm>
            <a:off x="285750" y="1761700"/>
            <a:ext cx="6648449" cy="4377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566850"/>
            <a:ext cx="5120826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Investor Demographics &amp; Behaviour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7220025" y="1574603"/>
            <a:ext cx="4400700" cy="17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20C99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The 26–35 Shift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7219950" y="3619500"/>
            <a:ext cx="440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Millennials Dominate at 40.7% 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7219950" y="4352925"/>
            <a:ext cx="4400700" cy="19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Our demographic analysis reveals that the 26-35 age bracket forms the massive core of the investor base at 40.7%. When combined with the 36-45 cohort, over 65% of the market is driven by younger demographics, highlighting a strong preference for systematic, tech-forward investing." </a:t>
            </a:r>
            <a:endParaRPr/>
          </a:p>
        </p:txBody>
      </p:sp>
      <p:pic>
        <p:nvPicPr>
          <p:cNvPr id="151" name="Google Shape;151;p18" descr="change the theme colour ths chart "/>
          <p:cNvPicPr preferRelativeResize="0"/>
          <p:nvPr/>
        </p:nvPicPr>
        <p:blipFill rotWithShape="1">
          <a:blip r:embed="rId4">
            <a:alphaModFix/>
          </a:blip>
          <a:srcRect t="8767"/>
          <a:stretch/>
        </p:blipFill>
        <p:spPr>
          <a:xfrm>
            <a:off x="571500" y="1299875"/>
            <a:ext cx="5596525" cy="5105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19225"/>
            <a:ext cx="2057400" cy="1472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19400" y="1419225"/>
            <a:ext cx="2057400" cy="1472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7300" y="1419225"/>
            <a:ext cx="2057400" cy="1472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1419225"/>
            <a:ext cx="2057400" cy="1472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63100" y="1419225"/>
            <a:ext cx="2057400" cy="147250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Composite Fund Scorecard (0-100)</a:t>
            </a:r>
            <a:endParaRPr dirty="0"/>
          </a:p>
        </p:txBody>
      </p:sp>
      <p:sp>
        <p:nvSpPr>
          <p:cNvPr id="162" name="Google Shape;162;p19"/>
          <p:cNvSpPr/>
          <p:nvPr/>
        </p:nvSpPr>
        <p:spPr>
          <a:xfrm>
            <a:off x="571500" y="3272730"/>
            <a:ext cx="11049000" cy="25622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3" name="Google Shape;163;p19"/>
          <p:cNvGraphicFramePr/>
          <p:nvPr/>
        </p:nvGraphicFramePr>
        <p:xfrm>
          <a:off x="571500" y="3272730"/>
          <a:ext cx="11049000" cy="2562250"/>
        </p:xfrm>
        <a:graphic>
          <a:graphicData uri="http://schemas.openxmlformats.org/drawingml/2006/table">
            <a:tbl>
              <a:tblPr firstRow="1" bandRow="1">
                <a:noFill/>
                <a:tableStyleId>{1A6AF7AA-1D53-4988-9836-63EAF89E8BC0}</a:tableStyleId>
              </a:tblPr>
              <a:tblGrid>
                <a:gridCol w="345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4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Fund Name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Category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Sharpe Ratio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Alpha (%)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Final Score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Nippon India Small Cap Fund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C99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Small Cap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C99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1.45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C99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4.2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C99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88.5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C9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ICICI Prudential Bluechip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C99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Large Cap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C99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1.22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C99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C99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82.1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C9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SBI Equity Hybrid Fund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Hybrid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65.4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HDFC Top 100 Fund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Large Cap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-0.2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58.2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4" name="Google Shape;164;p19"/>
          <p:cNvSpPr txBox="1"/>
          <p:nvPr/>
        </p:nvSpPr>
        <p:spPr>
          <a:xfrm>
            <a:off x="857250" y="1657350"/>
            <a:ext cx="161020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0C997"/>
                </a:solidFill>
                <a:latin typeface="Montserrat"/>
                <a:ea typeface="Montserrat"/>
                <a:cs typeface="Montserrat"/>
                <a:sym typeface="Montserrat"/>
              </a:rPr>
              <a:t>30%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857250" y="2105025"/>
            <a:ext cx="15335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A2540"/>
                </a:solidFill>
                <a:latin typeface="Inter"/>
                <a:ea typeface="Inter"/>
                <a:cs typeface="Inter"/>
                <a:sym typeface="Inter"/>
              </a:rPr>
              <a:t>3-Year Returns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3105150" y="1657350"/>
            <a:ext cx="161020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0C997"/>
                </a:solidFill>
                <a:latin typeface="Montserrat"/>
                <a:ea typeface="Montserrat"/>
                <a:cs typeface="Montserrat"/>
                <a:sym typeface="Montserrat"/>
              </a:rPr>
              <a:t>25%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3105150" y="2105025"/>
            <a:ext cx="15335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A2540"/>
                </a:solidFill>
                <a:latin typeface="Inter"/>
                <a:ea typeface="Inter"/>
                <a:cs typeface="Inter"/>
                <a:sym typeface="Inter"/>
              </a:rPr>
              <a:t>Sharpe Ratio</a:t>
            </a:r>
            <a:endParaRPr dirty="0"/>
          </a:p>
        </p:txBody>
      </p:sp>
      <p:sp>
        <p:nvSpPr>
          <p:cNvPr id="168" name="Google Shape;168;p19"/>
          <p:cNvSpPr txBox="1"/>
          <p:nvPr/>
        </p:nvSpPr>
        <p:spPr>
          <a:xfrm>
            <a:off x="5353050" y="1657350"/>
            <a:ext cx="161020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0C997"/>
                </a:solidFill>
                <a:latin typeface="Montserrat"/>
                <a:ea typeface="Montserrat"/>
                <a:cs typeface="Montserrat"/>
                <a:sym typeface="Montserrat"/>
              </a:rPr>
              <a:t>20%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5353050" y="2105025"/>
            <a:ext cx="15335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A2540"/>
                </a:solidFill>
                <a:latin typeface="Inter"/>
                <a:ea typeface="Inter"/>
                <a:cs typeface="Inter"/>
                <a:sym typeface="Inter"/>
              </a:rPr>
              <a:t>Alpha vs Nifty 100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7600950" y="1657350"/>
            <a:ext cx="161020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0C997"/>
                </a:solidFill>
                <a:latin typeface="Montserrat"/>
                <a:ea typeface="Montserrat"/>
                <a:cs typeface="Montserrat"/>
                <a:sym typeface="Montserrat"/>
              </a:rPr>
              <a:t>15%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7600950" y="2105025"/>
            <a:ext cx="15335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A2540"/>
                </a:solidFill>
                <a:latin typeface="Inter"/>
                <a:ea typeface="Inter"/>
                <a:cs typeface="Inter"/>
                <a:sym typeface="Inter"/>
              </a:rPr>
              <a:t>Expense Ratio (Inv)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9848850" y="1657350"/>
            <a:ext cx="161020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0C997"/>
                </a:solidFill>
                <a:latin typeface="Montserrat"/>
                <a:ea typeface="Montserrat"/>
                <a:cs typeface="Montserrat"/>
                <a:sym typeface="Montserrat"/>
              </a:rPr>
              <a:t>10%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9848850" y="2105025"/>
            <a:ext cx="15335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A2540"/>
                </a:solidFill>
                <a:latin typeface="Inter"/>
                <a:ea typeface="Inter"/>
                <a:cs typeface="Inter"/>
                <a:sym typeface="Inter"/>
              </a:rPr>
              <a:t>Max Drawdown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571500" y="4315717"/>
            <a:ext cx="34502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4021782" y="4315717"/>
            <a:ext cx="17445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5766345" y="4315717"/>
            <a:ext cx="21580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7924353" y="4315717"/>
            <a:ext cx="17445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9668916" y="4315717"/>
            <a:ext cx="19515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571500" y="4820542"/>
            <a:ext cx="34502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4021782" y="4820542"/>
            <a:ext cx="17445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5766345" y="4820542"/>
            <a:ext cx="21580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7924353" y="4820542"/>
            <a:ext cx="17445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9668916" y="4820542"/>
            <a:ext cx="19515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571500" y="5325367"/>
            <a:ext cx="34502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4021782" y="5325367"/>
            <a:ext cx="17445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5766345" y="5325367"/>
            <a:ext cx="21580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7924353" y="5325367"/>
            <a:ext cx="17445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9668916" y="5325367"/>
            <a:ext cx="19515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566862"/>
            <a:ext cx="607695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Advanced Risk Analytics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7458075" y="2697509"/>
            <a:ext cx="4162425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75569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/>
                <a:sym typeface="Inter"/>
              </a:rPr>
              <a:t>95% Value at Risk (VaR):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/>
                <a:sym typeface="Inter"/>
              </a:rPr>
              <a:t> Quantified maximum potential daily loss boundaries to protect downside capital.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7458075" y="3663255"/>
            <a:ext cx="416242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75569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/>
                <a:sym typeface="Inter"/>
              </a:rPr>
              <a:t>Sortino Ratio: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/>
                <a:sym typeface="Inter"/>
              </a:rPr>
              <a:t> Isolated and penalized only downside volatility for superior clarity on true risk.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7458075" y="4354710"/>
            <a:ext cx="416242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/>
                <a:sym typeface="Inter"/>
              </a:rPr>
              <a:t>CAPM Modeling: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/>
                <a:sym typeface="Inter"/>
              </a:rPr>
              <a:t> Calculated fund Beta via OLS regression against the Nifty 100 benchmark.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98" name="Google Shape;19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19950" y="271655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19950" y="368230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19950" y="437376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/>
          <p:cNvPicPr preferRelativeResize="0"/>
          <p:nvPr/>
        </p:nvPicPr>
        <p:blipFill rotWithShape="1">
          <a:blip r:embed="rId5">
            <a:alphaModFix/>
          </a:blip>
          <a:srcRect l="19080" t="6428" r="5653"/>
          <a:stretch/>
        </p:blipFill>
        <p:spPr>
          <a:xfrm>
            <a:off x="571500" y="1566849"/>
            <a:ext cx="6281825" cy="468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Dashboard Insights: Market Overview</a:t>
            </a:r>
            <a:endParaRPr dirty="0"/>
          </a:p>
        </p:txBody>
      </p:sp>
      <p:sp>
        <p:nvSpPr>
          <p:cNvPr id="207" name="Google Shape;207;p21"/>
          <p:cNvSpPr/>
          <p:nvPr/>
        </p:nvSpPr>
        <p:spPr>
          <a:xfrm>
            <a:off x="552450" y="1504950"/>
            <a:ext cx="6896100" cy="3905400"/>
          </a:xfrm>
          <a:prstGeom prst="roundRect">
            <a:avLst>
              <a:gd name="adj" fmla="val 3414"/>
            </a:avLst>
          </a:prstGeom>
          <a:solidFill>
            <a:srgbClr val="FFFFFF"/>
          </a:solidFill>
          <a:ln w="190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08" name="Google Shape;208;p21"/>
          <p:cNvPicPr preferRelativeResize="0"/>
          <p:nvPr/>
        </p:nvPicPr>
        <p:blipFill rotWithShape="1">
          <a:blip r:embed="rId3">
            <a:alphaModFix/>
          </a:blip>
          <a:srcRect t="60" b="70"/>
          <a:stretch/>
        </p:blipFill>
        <p:spPr>
          <a:xfrm>
            <a:off x="571500" y="1524000"/>
            <a:ext cx="6858000" cy="386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/>
          <p:nvPr/>
        </p:nvSpPr>
        <p:spPr>
          <a:xfrm>
            <a:off x="7810500" y="1524000"/>
            <a:ext cx="3810000" cy="180960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7810500" y="1524000"/>
            <a:ext cx="57300" cy="1809600"/>
          </a:xfrm>
          <a:prstGeom prst="roundRect">
            <a:avLst>
              <a:gd name="adj" fmla="val 50000"/>
            </a:avLst>
          </a:prstGeom>
          <a:solidFill>
            <a:srgbClr val="20C99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8096250" y="1524000"/>
            <a:ext cx="3238500" cy="18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20C997"/>
                </a:solidFill>
                <a:latin typeface="Cambria" panose="02040503050406030204" pitchFamily="18" charset="0"/>
                <a:ea typeface="Cambria" panose="02040503050406030204" pitchFamily="18" charset="0"/>
                <a:cs typeface="Material Icons"/>
                <a:sym typeface="Material Icons"/>
              </a:rPr>
              <a:t>analytics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A254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"/>
                <a:sym typeface="Montserrat"/>
              </a:rPr>
              <a:t>Executive KPIs</a:t>
            </a:r>
            <a:endParaRPr sz="1600" b="1" dirty="0">
              <a:solidFill>
                <a:srgbClr val="0A2540"/>
              </a:solidFill>
              <a:latin typeface="Cambria" panose="02040503050406030204" pitchFamily="18" charset="0"/>
              <a:ea typeface="Cambria" panose="02040503050406030204" pitchFamily="18" charset="0"/>
              <a:cs typeface="Montserrat"/>
              <a:sym typeface="Montserrat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475569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/>
                <a:sym typeface="Inter"/>
              </a:rPr>
              <a:t>Real-time tracking of ₹81L Cr AUM and 26.12 Cr Active Folios.</a:t>
            </a:r>
            <a:endParaRPr sz="1200" b="0" dirty="0">
              <a:solidFill>
                <a:srgbClr val="475569"/>
              </a:solidFill>
              <a:latin typeface="Cambria" panose="02040503050406030204" pitchFamily="18" charset="0"/>
              <a:ea typeface="Cambria" panose="02040503050406030204" pitchFamily="18" charset="0"/>
              <a:cs typeface="Inter"/>
              <a:sym typeface="Inter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7810500" y="3581400"/>
            <a:ext cx="3810000" cy="180960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7810500" y="3581400"/>
            <a:ext cx="57300" cy="1809600"/>
          </a:xfrm>
          <a:prstGeom prst="roundRect">
            <a:avLst>
              <a:gd name="adj" fmla="val 50000"/>
            </a:avLst>
          </a:prstGeom>
          <a:solidFill>
            <a:srgbClr val="20C99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8096250" y="3581400"/>
            <a:ext cx="3238500" cy="18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0C997"/>
                </a:solidFill>
                <a:latin typeface="Cambria" panose="02040503050406030204" pitchFamily="18" charset="0"/>
                <a:ea typeface="Cambria" panose="02040503050406030204" pitchFamily="18" charset="0"/>
                <a:cs typeface="Material Icons"/>
                <a:sym typeface="Material Icons"/>
              </a:rPr>
              <a:t>filter_alt</a:t>
            </a:r>
            <a:endParaRPr>
              <a:latin typeface="Cambria" panose="02040503050406030204" pitchFamily="18" charset="0"/>
              <a:ea typeface="Cambria" panose="02040503050406030204" pitchFamily="18" charset="0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A254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"/>
                <a:sym typeface="Montserrat"/>
              </a:rPr>
              <a:t>Interactive Slicers</a:t>
            </a:r>
            <a:endParaRPr sz="1600" b="1">
              <a:solidFill>
                <a:srgbClr val="0A2540"/>
              </a:solidFill>
              <a:latin typeface="Cambria" panose="02040503050406030204" pitchFamily="18" charset="0"/>
              <a:ea typeface="Cambria" panose="02040503050406030204" pitchFamily="18" charset="0"/>
              <a:cs typeface="Montserrat"/>
              <a:sym typeface="Montserrat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475569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/>
                <a:sym typeface="Inter"/>
              </a:rPr>
              <a:t>Stakeholders can dynamically filter macroeconomic views by specific Fund Houses or Categories.</a:t>
            </a:r>
            <a:endParaRPr sz="1200" b="0">
              <a:solidFill>
                <a:srgbClr val="475569"/>
              </a:solidFill>
              <a:latin typeface="Cambria" panose="02040503050406030204" pitchFamily="18" charset="0"/>
              <a:ea typeface="Cambria" panose="02040503050406030204" pitchFamily="18" charset="0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9;p21">
            <a:extLst>
              <a:ext uri="{FF2B5EF4-FFF2-40B4-BE49-F238E27FC236}">
                <a16:creationId xmlns:a16="http://schemas.microsoft.com/office/drawing/2014/main" id="{B16AED6D-E187-A3B2-D4CC-9D48D1BD941B}"/>
              </a:ext>
            </a:extLst>
          </p:cNvPr>
          <p:cNvSpPr/>
          <p:nvPr/>
        </p:nvSpPr>
        <p:spPr>
          <a:xfrm>
            <a:off x="8225170" y="4150608"/>
            <a:ext cx="3810000" cy="180960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210;p21">
            <a:extLst>
              <a:ext uri="{FF2B5EF4-FFF2-40B4-BE49-F238E27FC236}">
                <a16:creationId xmlns:a16="http://schemas.microsoft.com/office/drawing/2014/main" id="{48C60074-007A-07DA-736C-8BBDBC9F622B}"/>
              </a:ext>
            </a:extLst>
          </p:cNvPr>
          <p:cNvSpPr/>
          <p:nvPr/>
        </p:nvSpPr>
        <p:spPr>
          <a:xfrm>
            <a:off x="8225170" y="4150608"/>
            <a:ext cx="57300" cy="1809600"/>
          </a:xfrm>
          <a:prstGeom prst="roundRect">
            <a:avLst>
              <a:gd name="adj" fmla="val 50000"/>
            </a:avLst>
          </a:prstGeom>
          <a:solidFill>
            <a:srgbClr val="20C99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Google Shape;209;p21">
            <a:extLst>
              <a:ext uri="{FF2B5EF4-FFF2-40B4-BE49-F238E27FC236}">
                <a16:creationId xmlns:a16="http://schemas.microsoft.com/office/drawing/2014/main" id="{F5D81247-AED6-ADAD-BF8C-D2340CE89652}"/>
              </a:ext>
            </a:extLst>
          </p:cNvPr>
          <p:cNvSpPr/>
          <p:nvPr/>
        </p:nvSpPr>
        <p:spPr>
          <a:xfrm>
            <a:off x="8225170" y="1880087"/>
            <a:ext cx="3810000" cy="180960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Google Shape;210;p21">
            <a:extLst>
              <a:ext uri="{FF2B5EF4-FFF2-40B4-BE49-F238E27FC236}">
                <a16:creationId xmlns:a16="http://schemas.microsoft.com/office/drawing/2014/main" id="{63326908-06A8-A385-32BF-318D0E3C5314}"/>
              </a:ext>
            </a:extLst>
          </p:cNvPr>
          <p:cNvSpPr/>
          <p:nvPr/>
        </p:nvSpPr>
        <p:spPr>
          <a:xfrm>
            <a:off x="8225170" y="1880087"/>
            <a:ext cx="57300" cy="1809600"/>
          </a:xfrm>
          <a:prstGeom prst="roundRect">
            <a:avLst>
              <a:gd name="adj" fmla="val 50000"/>
            </a:avLst>
          </a:prstGeom>
          <a:solidFill>
            <a:srgbClr val="20C99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A254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"/>
                <a:sym typeface="Montserrat"/>
              </a:rPr>
              <a:t>Dashboard Insights: Fund Performance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8400465" y="2098778"/>
            <a:ext cx="35604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A254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"/>
                <a:sym typeface="Montserrat"/>
              </a:rPr>
              <a:t>Risk vs. Return Plot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8400465" y="2559699"/>
            <a:ext cx="33909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/>
                <a:sym typeface="Inter"/>
              </a:rPr>
              <a:t>Visually isolates funds offering high Alpha with low Volatility (bubble size = AUM).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8474770" y="4278199"/>
            <a:ext cx="35604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A254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"/>
                <a:sym typeface="Montserrat"/>
              </a:rPr>
              <a:t>Real-time Drill-through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8474770" y="4739120"/>
            <a:ext cx="3390900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/>
                <a:sym typeface="Inter"/>
              </a:rPr>
              <a:t>Pivot from industry overview to specific 4.5-year NAV trends and benchmark comparisons instantly.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24" name="Google Shape;2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900" y="1763450"/>
            <a:ext cx="7726275" cy="4357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19225"/>
            <a:ext cx="3429000" cy="486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1419225"/>
            <a:ext cx="3429000" cy="486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500" y="1419225"/>
            <a:ext cx="3429000" cy="486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Strategic Recommendations</a:t>
            </a:r>
            <a:endParaRPr/>
          </a:p>
        </p:txBody>
      </p:sp>
      <p:pic>
        <p:nvPicPr>
          <p:cNvPr id="233" name="Google Shape;23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47875" y="19431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 txBox="1"/>
          <p:nvPr/>
        </p:nvSpPr>
        <p:spPr>
          <a:xfrm>
            <a:off x="1330880" y="2705100"/>
            <a:ext cx="191023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A254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"/>
                <a:sym typeface="Montserrat"/>
              </a:rPr>
              <a:t>Alpha is Scarce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952500" y="3171825"/>
            <a:ext cx="266700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/>
                <a:sym typeface="Inter"/>
              </a:rPr>
              <a:t>Only 15% of actively managed large-cap funds consistently outperformed their respective benchmarks post-expense ratio.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36" name="Google Shape;236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57875" y="19431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4730829" y="2705100"/>
            <a:ext cx="273034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A254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"/>
                <a:sym typeface="Montserrat"/>
              </a:rPr>
              <a:t>Drawdown Resilience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4762500" y="3171825"/>
            <a:ext cx="266700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/>
                <a:sym typeface="Inter"/>
              </a:rPr>
              <a:t>High-Sharpe ratio funds demonstrated significantly better capital preservation during periods of high market volatility.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39" name="Google Shape;239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25025" y="1943100"/>
            <a:ext cx="361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8505825" y="2705100"/>
            <a:ext cx="28003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A254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"/>
                <a:sym typeface="Montserrat"/>
              </a:rPr>
              <a:t>Automated Recommendations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8572500" y="3448050"/>
            <a:ext cx="266700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/>
                <a:sym typeface="Inter"/>
              </a:rPr>
              <a:t>Deploy the Python Recommender Engine algorithm into the retail app to match investors with their optimal risk-grade funds.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4"/>
          <p:cNvSpPr txBox="1"/>
          <p:nvPr/>
        </p:nvSpPr>
        <p:spPr>
          <a:xfrm>
            <a:off x="295275" y="1222027"/>
            <a:ext cx="1160145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A254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"/>
                <a:sym typeface="Montserrat"/>
              </a:rPr>
              <a:t>Thank You. Questions?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7" name="Google Shape;247;p24"/>
          <p:cNvSpPr txBox="1"/>
          <p:nvPr/>
        </p:nvSpPr>
        <p:spPr>
          <a:xfrm>
            <a:off x="571500" y="2374552"/>
            <a:ext cx="11049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Cambria" panose="02040503050406030204" pitchFamily="18" charset="0"/>
                <a:ea typeface="Cambria" panose="02040503050406030204" pitchFamily="18" charset="0"/>
                <a:cs typeface="Inter"/>
                <a:sym typeface="Inter"/>
              </a:rPr>
              <a:t>End-to-End Analytics Pipeline Ready for Production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48" name="Google Shape;24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02799" y="2853352"/>
            <a:ext cx="2272159" cy="2324704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571500" y="5407223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A2540"/>
                </a:solidFill>
                <a:latin typeface="Cambria" panose="02040503050406030204" pitchFamily="18" charset="0"/>
                <a:ea typeface="Cambria" panose="02040503050406030204" pitchFamily="18" charset="0"/>
                <a:cs typeface="Inter Medium"/>
                <a:sym typeface="Inter Medium"/>
              </a:rPr>
              <a:t>View the Codebase: </a:t>
            </a:r>
            <a:r>
              <a:rPr lang="en-US" sz="1500" b="0" i="0" u="none" strike="noStrike" cap="none" dirty="0">
                <a:solidFill>
                  <a:srgbClr val="20C997"/>
                </a:solidFill>
                <a:latin typeface="Cambria" panose="02040503050406030204" pitchFamily="18" charset="0"/>
                <a:ea typeface="Cambria" panose="02040503050406030204" pitchFamily="18" charset="0"/>
                <a:cs typeface="Inter Medium"/>
                <a:sym typeface="Inter Medium"/>
              </a:rPr>
              <a:t>github.com/dheeraj-analytics/bluestock_mf_capstone.git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5DE679-1075-4476-1694-8844AE8BE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254" y="2951080"/>
            <a:ext cx="2129248" cy="21292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599</Words>
  <Application>Microsoft Office PowerPoint</Application>
  <PresentationFormat>Widescreen</PresentationFormat>
  <Paragraphs>92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Inter</vt:lpstr>
      <vt:lpstr>Calibri</vt:lpstr>
      <vt:lpstr>Montserrat ExtraBold</vt:lpstr>
      <vt:lpstr>Montserrat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dheeraj .</dc:creator>
  <cp:lastModifiedBy>dheeraj .</cp:lastModifiedBy>
  <cp:revision>5</cp:revision>
  <dcterms:modified xsi:type="dcterms:W3CDTF">2026-07-15T10:50:20Z</dcterms:modified>
</cp:coreProperties>
</file>