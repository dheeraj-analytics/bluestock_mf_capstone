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Nunito"/>
      <p:regular r:id="rId19"/>
      <p:bold r:id="rId20"/>
      <p:italic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  <p:embeddedFont>
      <p:font typeface="Inter"/>
      <p:regular r:id="rId27"/>
      <p:bold r:id="rId28"/>
      <p:italic r:id="rId29"/>
      <p:boldItalic r:id="rId30"/>
    </p:embeddedFont>
    <p:embeddedFont>
      <p:font typeface="Maven Pro"/>
      <p:regular r:id="rId31"/>
      <p:bold r:id="rId32"/>
    </p:embeddedFont>
    <p:embeddedFont>
      <p:font typeface="Montserrat ExtraBold"/>
      <p:bold r:id="rId33"/>
      <p:boldItalic r:id="rId34"/>
    </p:embeddedFont>
    <p:embeddedFont>
      <p:font typeface="Inter Medium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FA31FDC-54E5-4064-8AE1-988EEB9CE590}">
  <a:tblStyle styleId="{4FA31FDC-54E5-4064-8AE1-988EEB9CE59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22" Type="http://schemas.openxmlformats.org/officeDocument/2006/relationships/font" Target="fonts/Nunito-boldItalic.fntdata"/><Relationship Id="rId21" Type="http://schemas.openxmlformats.org/officeDocument/2006/relationships/font" Target="fonts/Nunito-italic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avenPro-regular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5.xml"/><Relationship Id="rId33" Type="http://schemas.openxmlformats.org/officeDocument/2006/relationships/font" Target="fonts/MontserratExtraBold-bold.fntdata"/><Relationship Id="rId10" Type="http://schemas.openxmlformats.org/officeDocument/2006/relationships/slide" Target="slides/slide4.xml"/><Relationship Id="rId32" Type="http://schemas.openxmlformats.org/officeDocument/2006/relationships/font" Target="fonts/MavenPro-bold.fntdata"/><Relationship Id="rId13" Type="http://schemas.openxmlformats.org/officeDocument/2006/relationships/slide" Target="slides/slide7.xml"/><Relationship Id="rId35" Type="http://schemas.openxmlformats.org/officeDocument/2006/relationships/font" Target="fonts/InterMedium-regular.fntdata"/><Relationship Id="rId12" Type="http://schemas.openxmlformats.org/officeDocument/2006/relationships/slide" Target="slides/slide6.xml"/><Relationship Id="rId34" Type="http://schemas.openxmlformats.org/officeDocument/2006/relationships/font" Target="fonts/MontserratExtraBold-boldItalic.fntdata"/><Relationship Id="rId15" Type="http://schemas.openxmlformats.org/officeDocument/2006/relationships/slide" Target="slides/slide9.xml"/><Relationship Id="rId37" Type="http://schemas.openxmlformats.org/officeDocument/2006/relationships/font" Target="fonts/InterMedium-italic.fntdata"/><Relationship Id="rId14" Type="http://schemas.openxmlformats.org/officeDocument/2006/relationships/slide" Target="slides/slide8.xml"/><Relationship Id="rId36" Type="http://schemas.openxmlformats.org/officeDocument/2006/relationships/font" Target="fonts/InterMedium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InterMedium-boldItalic.fntdata"/><Relationship Id="rId19" Type="http://schemas.openxmlformats.org/officeDocument/2006/relationships/font" Target="fonts/Nunit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9790426" y="4546120"/>
            <a:ext cx="2255173" cy="2310006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6724502" y="0"/>
            <a:ext cx="5085303" cy="5118675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1098667" y="2151750"/>
            <a:ext cx="5673900" cy="249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1098667" y="4795067"/>
            <a:ext cx="5673900" cy="927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95687" y="4541"/>
            <a:ext cx="1644245" cy="1846001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9033219" y="3871914"/>
            <a:ext cx="2914791" cy="2985925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1098667" y="2151767"/>
            <a:ext cx="7810500" cy="24972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738400" y="2653400"/>
            <a:ext cx="9374100" cy="3388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738400" y="2653400"/>
            <a:ext cx="4574100" cy="3388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6538200" y="2653400"/>
            <a:ext cx="4574100" cy="3388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738400" y="798100"/>
            <a:ext cx="4416000" cy="2120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738400" y="3079567"/>
            <a:ext cx="4416000" cy="2962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9155392" y="1742"/>
            <a:ext cx="3023192" cy="3468833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1098667" y="1018133"/>
            <a:ext cx="7810500" cy="476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738400" y="798100"/>
            <a:ext cx="4574100" cy="26535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738400" y="3657604"/>
            <a:ext cx="4574100" cy="9681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6538267" y="881333"/>
            <a:ext cx="4574100" cy="51609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951176" y="5129497"/>
            <a:ext cx="1100560" cy="1100560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738400" y="5518633"/>
            <a:ext cx="7790700" cy="713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69" y="5465463"/>
            <a:ext cx="12191743" cy="1392365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851500" y="1030300"/>
            <a:ext cx="8489100" cy="248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851500" y="3616400"/>
            <a:ext cx="8489100" cy="1481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Maven Pro"/>
              <a:buNone/>
              <a:defRPr b="1" sz="37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Nunito"/>
              <a:buChar char="●"/>
              <a:defRPr sz="17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○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■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○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■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○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■"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22.png"/><Relationship Id="rId5" Type="http://schemas.openxmlformats.org/officeDocument/2006/relationships/image" Target="../media/image8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28.png"/><Relationship Id="rId6" Type="http://schemas.openxmlformats.org/officeDocument/2006/relationships/image" Target="../media/image13.png"/><Relationship Id="rId7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hyperlink" Target="https://github.com/dheeraj-analytics/bluestock_mf_capstone.git" TargetMode="External"/><Relationship Id="rId5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/>
        </p:nvSpPr>
        <p:spPr>
          <a:xfrm>
            <a:off x="644950" y="411048"/>
            <a:ext cx="5200800" cy="3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0A254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Bluestock Mutual Fund Analytics Platform</a:t>
            </a:r>
            <a:endParaRPr/>
          </a:p>
        </p:txBody>
      </p:sp>
      <p:sp>
        <p:nvSpPr>
          <p:cNvPr id="278" name="Google Shape;278;p13"/>
          <p:cNvSpPr txBox="1"/>
          <p:nvPr/>
        </p:nvSpPr>
        <p:spPr>
          <a:xfrm>
            <a:off x="752550" y="3758056"/>
            <a:ext cx="520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0C997"/>
                </a:solidFill>
                <a:latin typeface="Montserrat"/>
                <a:ea typeface="Montserrat"/>
                <a:cs typeface="Montserrat"/>
                <a:sym typeface="Montserrat"/>
              </a:rPr>
              <a:t>End-to-End Data Pipeline &amp; Quantitative Strategy</a:t>
            </a:r>
            <a:endParaRPr/>
          </a:p>
        </p:txBody>
      </p:sp>
      <p:pic>
        <p:nvPicPr>
          <p:cNvPr descr="image.png" id="279" name="Google Shape;27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3"/>
          <p:cNvSpPr txBox="1"/>
          <p:nvPr/>
        </p:nvSpPr>
        <p:spPr>
          <a:xfrm>
            <a:off x="990600" y="4920406"/>
            <a:ext cx="47244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2540"/>
                </a:solidFill>
                <a:latin typeface="Inter"/>
                <a:ea typeface="Inter"/>
                <a:cs typeface="Inter"/>
                <a:sym typeface="Inter"/>
              </a:rPr>
              <a:t>Prepared By: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Data Analyst Intern</a:t>
            </a:r>
            <a:endParaRPr/>
          </a:p>
        </p:txBody>
      </p:sp>
      <p:sp>
        <p:nvSpPr>
          <p:cNvPr id="281" name="Google Shape;281;p13"/>
          <p:cNvSpPr txBox="1"/>
          <p:nvPr/>
        </p:nvSpPr>
        <p:spPr>
          <a:xfrm>
            <a:off x="990600" y="5242321"/>
            <a:ext cx="47244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2540"/>
                </a:solidFill>
                <a:latin typeface="Inter"/>
                <a:ea typeface="Inter"/>
                <a:cs typeface="Inter"/>
                <a:sym typeface="Inter"/>
              </a:rPr>
              <a:t>Company: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Bluestock Fintech Pvt. Ltd.</a:t>
            </a:r>
            <a:endParaRPr/>
          </a:p>
        </p:txBody>
      </p:sp>
      <p:sp>
        <p:nvSpPr>
          <p:cNvPr id="282" name="Google Shape;282;p13"/>
          <p:cNvSpPr txBox="1"/>
          <p:nvPr/>
        </p:nvSpPr>
        <p:spPr>
          <a:xfrm>
            <a:off x="990600" y="5564237"/>
            <a:ext cx="47244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2540"/>
                </a:solidFill>
                <a:latin typeface="Inter"/>
                <a:ea typeface="Inter"/>
                <a:cs typeface="Inter"/>
                <a:sym typeface="Inter"/>
              </a:rPr>
              <a:t>Scope: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40 Top Schemes | 87K+ Rows | 4.5 Years of Data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7" name="Google Shape;28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10779"/>
            <a:ext cx="5238750" cy="42841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710779"/>
            <a:ext cx="5238750" cy="4284166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4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The Problem &amp; Our Objective</a:t>
            </a:r>
            <a:endParaRPr/>
          </a:p>
        </p:txBody>
      </p:sp>
      <p:pic>
        <p:nvPicPr>
          <p:cNvPr descr="image.png" id="290" name="Google Shape;29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7750" y="223465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4"/>
          <p:cNvSpPr txBox="1"/>
          <p:nvPr/>
        </p:nvSpPr>
        <p:spPr>
          <a:xfrm>
            <a:off x="1047750" y="2977604"/>
            <a:ext cx="450056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The Problem</a:t>
            </a:r>
            <a:endParaRPr/>
          </a:p>
        </p:txBody>
      </p:sp>
      <p:pic>
        <p:nvPicPr>
          <p:cNvPr descr="image.png" id="292" name="Google Shape;29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0" y="2234654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4"/>
          <p:cNvSpPr txBox="1"/>
          <p:nvPr/>
        </p:nvSpPr>
        <p:spPr>
          <a:xfrm>
            <a:off x="6858000" y="2977604"/>
            <a:ext cx="450056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The Objective</a:t>
            </a:r>
            <a:endParaRPr/>
          </a:p>
        </p:txBody>
      </p:sp>
      <p:sp>
        <p:nvSpPr>
          <p:cNvPr id="294" name="Google Shape;294;p14"/>
          <p:cNvSpPr txBox="1"/>
          <p:nvPr/>
        </p:nvSpPr>
        <p:spPr>
          <a:xfrm>
            <a:off x="1333500" y="3491954"/>
            <a:ext cx="40005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Indian mutual fund market is booming, but data is highly fragmented across disparate APIs and PDFs.</a:t>
            </a:r>
            <a:endParaRPr/>
          </a:p>
        </p:txBody>
      </p:sp>
      <p:sp>
        <p:nvSpPr>
          <p:cNvPr id="295" name="Google Shape;295;p14"/>
          <p:cNvSpPr txBox="1"/>
          <p:nvPr/>
        </p:nvSpPr>
        <p:spPr>
          <a:xfrm>
            <a:off x="1333500" y="4505325"/>
            <a:ext cx="40005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Retail investors lack unified, quantitative tools to accurately compare risk-adjusted returns (Sharpe, Alpha) against benchmarks.</a:t>
            </a:r>
            <a:endParaRPr/>
          </a:p>
        </p:txBody>
      </p:sp>
      <p:sp>
        <p:nvSpPr>
          <p:cNvPr id="296" name="Google Shape;296;p14"/>
          <p:cNvSpPr txBox="1"/>
          <p:nvPr/>
        </p:nvSpPr>
        <p:spPr>
          <a:xfrm>
            <a:off x="7143750" y="3491954"/>
            <a:ext cx="4000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Build an automated end-to-end ETL pipeline and a centralized SQLite data warehouse.</a:t>
            </a:r>
            <a:endParaRPr/>
          </a:p>
        </p:txBody>
      </p:sp>
      <p:sp>
        <p:nvSpPr>
          <p:cNvPr id="297" name="Google Shape;297;p14"/>
          <p:cNvSpPr txBox="1"/>
          <p:nvPr/>
        </p:nvSpPr>
        <p:spPr>
          <a:xfrm>
            <a:off x="7143750" y="4231034"/>
            <a:ext cx="40005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Develop an interactive BI dashboard to rank 40 top-performing funds using advanced financial risk metrics.</a:t>
            </a:r>
            <a:endParaRPr/>
          </a:p>
        </p:txBody>
      </p:sp>
      <p:pic>
        <p:nvPicPr>
          <p:cNvPr descr="image.png" id="298" name="Google Shape;29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7750" y="3511004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7750" y="4524375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3511004"/>
            <a:ext cx="857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4250084"/>
            <a:ext cx="8572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Data Sources &amp; Quality Assurance</a:t>
            </a:r>
            <a:endParaRPr/>
          </a:p>
        </p:txBody>
      </p:sp>
      <p:pic>
        <p:nvPicPr>
          <p:cNvPr descr="image.png" id="307" name="Google Shape;3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025" y="2460426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7025" y="2460426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44815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025" y="44815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5"/>
          <p:cNvSpPr txBox="1"/>
          <p:nvPr/>
        </p:nvSpPr>
        <p:spPr>
          <a:xfrm>
            <a:off x="1724025" y="2412801"/>
            <a:ext cx="398049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Live API Integration</a:t>
            </a:r>
            <a:endParaRPr/>
          </a:p>
        </p:txBody>
      </p:sp>
      <p:sp>
        <p:nvSpPr>
          <p:cNvPr id="312" name="Google Shape;312;p15"/>
          <p:cNvSpPr txBox="1"/>
          <p:nvPr/>
        </p:nvSpPr>
        <p:spPr>
          <a:xfrm>
            <a:off x="1724025" y="2784276"/>
            <a:ext cx="379095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Extracted 46,000+ daily NAV records via mfapi.in REST API.</a:t>
            </a:r>
            <a:endParaRPr/>
          </a:p>
        </p:txBody>
      </p:sp>
      <p:sp>
        <p:nvSpPr>
          <p:cNvPr id="313" name="Google Shape;313;p15"/>
          <p:cNvSpPr txBox="1"/>
          <p:nvPr/>
        </p:nvSpPr>
        <p:spPr>
          <a:xfrm>
            <a:off x="7296150" y="2412801"/>
            <a:ext cx="4130516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AMFI Master Registry</a:t>
            </a:r>
            <a:endParaRPr/>
          </a:p>
        </p:txBody>
      </p:sp>
      <p:sp>
        <p:nvSpPr>
          <p:cNvPr id="314" name="Google Shape;314;p15"/>
          <p:cNvSpPr txBox="1"/>
          <p:nvPr/>
        </p:nvSpPr>
        <p:spPr>
          <a:xfrm>
            <a:off x="7296150" y="2784276"/>
            <a:ext cx="393382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Curated metadata and performance history for 40 top-performing mutual fund schemes.</a:t>
            </a:r>
            <a:endParaRPr/>
          </a:p>
        </p:txBody>
      </p:sp>
      <p:sp>
        <p:nvSpPr>
          <p:cNvPr id="315" name="Google Shape;315;p15"/>
          <p:cNvSpPr txBox="1"/>
          <p:nvPr/>
        </p:nvSpPr>
        <p:spPr>
          <a:xfrm>
            <a:off x="1628775" y="4433887"/>
            <a:ext cx="408051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Macro &amp; Investor Data</a:t>
            </a:r>
            <a:endParaRPr/>
          </a:p>
        </p:txBody>
      </p:sp>
      <p:sp>
        <p:nvSpPr>
          <p:cNvPr id="316" name="Google Shape;316;p15"/>
          <p:cNvSpPr txBox="1"/>
          <p:nvPr/>
        </p:nvSpPr>
        <p:spPr>
          <a:xfrm>
            <a:off x="1628775" y="4805362"/>
            <a:ext cx="38862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Synthesized 32,000+ transaction records, SIP inflow trends, and folio growth metrics.</a:t>
            </a:r>
            <a:endParaRPr/>
          </a:p>
        </p:txBody>
      </p:sp>
      <p:sp>
        <p:nvSpPr>
          <p:cNvPr id="317" name="Google Shape;317;p15"/>
          <p:cNvSpPr txBox="1"/>
          <p:nvPr/>
        </p:nvSpPr>
        <p:spPr>
          <a:xfrm>
            <a:off x="7343775" y="4433887"/>
            <a:ext cx="408051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Data Quality Assurance</a:t>
            </a:r>
            <a:endParaRPr/>
          </a:p>
        </p:txBody>
      </p:sp>
      <p:sp>
        <p:nvSpPr>
          <p:cNvPr id="318" name="Google Shape;318;p15"/>
          <p:cNvSpPr txBox="1"/>
          <p:nvPr/>
        </p:nvSpPr>
        <p:spPr>
          <a:xfrm>
            <a:off x="7343775" y="4805362"/>
            <a:ext cx="38862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Applied automated forward-filling (ffill) to resolve NAV gaps during non-trading weekends.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3" name="Google Shape;3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419225"/>
            <a:ext cx="11049000" cy="486727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6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System Architecture &amp; ETL Pipeline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9" name="Google Shape;3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66862"/>
            <a:ext cx="607695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7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Macro Trends: The SIP Surge</a:t>
            </a:r>
            <a:endParaRPr/>
          </a:p>
        </p:txBody>
      </p:sp>
      <p:sp>
        <p:nvSpPr>
          <p:cNvPr id="331" name="Google Shape;331;p17"/>
          <p:cNvSpPr txBox="1"/>
          <p:nvPr/>
        </p:nvSpPr>
        <p:spPr>
          <a:xfrm>
            <a:off x="7219950" y="2046208"/>
            <a:ext cx="4400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20C99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₹31,002 Cr</a:t>
            </a:r>
            <a:endParaRPr/>
          </a:p>
        </p:txBody>
      </p:sp>
      <p:sp>
        <p:nvSpPr>
          <p:cNvPr id="332" name="Google Shape;332;p17"/>
          <p:cNvSpPr txBox="1"/>
          <p:nvPr/>
        </p:nvSpPr>
        <p:spPr>
          <a:xfrm>
            <a:off x="7219950" y="3080444"/>
            <a:ext cx="44005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All-Time High SIP Inflow (Dec 2025)</a:t>
            </a:r>
            <a:endParaRPr/>
          </a:p>
        </p:txBody>
      </p:sp>
      <p:sp>
        <p:nvSpPr>
          <p:cNvPr id="333" name="Google Shape;333;p17"/>
          <p:cNvSpPr txBox="1"/>
          <p:nvPr/>
        </p:nvSpPr>
        <p:spPr>
          <a:xfrm>
            <a:off x="7219950" y="4137719"/>
            <a:ext cx="4400550" cy="11656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Indian mutual fund industry surpassed ₹81 Lakh Crore in AUM, with Systematic Investment Plans emerging as the primary driver of consistent, robust capital inflows across the nation.</a:t>
            </a:r>
            <a:endParaRPr/>
          </a:p>
        </p:txBody>
      </p:sp>
      <p:pic>
        <p:nvPicPr>
          <p:cNvPr id="334" name="Google Shape;334;p17"/>
          <p:cNvPicPr preferRelativeResize="0"/>
          <p:nvPr/>
        </p:nvPicPr>
        <p:blipFill rotWithShape="1">
          <a:blip r:embed="rId4">
            <a:alphaModFix/>
          </a:blip>
          <a:srcRect b="4849" l="5262" r="5707" t="13096"/>
          <a:stretch/>
        </p:blipFill>
        <p:spPr>
          <a:xfrm>
            <a:off x="285750" y="1761700"/>
            <a:ext cx="6648449" cy="4377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9" name="Google Shape;33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66850"/>
            <a:ext cx="5120826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Investor Demographics &amp; Behaviour</a:t>
            </a:r>
            <a:endParaRPr/>
          </a:p>
        </p:txBody>
      </p:sp>
      <p:sp>
        <p:nvSpPr>
          <p:cNvPr id="341" name="Google Shape;341;p18"/>
          <p:cNvSpPr txBox="1"/>
          <p:nvPr/>
        </p:nvSpPr>
        <p:spPr>
          <a:xfrm>
            <a:off x="7220025" y="1574603"/>
            <a:ext cx="4400700" cy="17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20C99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The 26–35 Shift</a:t>
            </a:r>
            <a:endParaRPr/>
          </a:p>
        </p:txBody>
      </p:sp>
      <p:sp>
        <p:nvSpPr>
          <p:cNvPr id="342" name="Google Shape;342;p18"/>
          <p:cNvSpPr txBox="1"/>
          <p:nvPr/>
        </p:nvSpPr>
        <p:spPr>
          <a:xfrm>
            <a:off x="7219950" y="3619500"/>
            <a:ext cx="440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Millennials Dominate at 40.7% </a:t>
            </a:r>
            <a:endParaRPr/>
          </a:p>
        </p:txBody>
      </p:sp>
      <p:sp>
        <p:nvSpPr>
          <p:cNvPr id="343" name="Google Shape;343;p18"/>
          <p:cNvSpPr txBox="1"/>
          <p:nvPr/>
        </p:nvSpPr>
        <p:spPr>
          <a:xfrm>
            <a:off x="7219950" y="4352925"/>
            <a:ext cx="4400700" cy="19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Our demographic analysis reveals that the 26-35 age bracket forms the massive core of the investor base at 40.7%. When combined with the 36-45 cohort, over 65% of the market is driven by younger demographics, highlighting a strong preference for systematic, tech-forward investing." </a:t>
            </a:r>
            <a:endParaRPr/>
          </a:p>
        </p:txBody>
      </p:sp>
      <p:pic>
        <p:nvPicPr>
          <p:cNvPr descr="change the theme colour ths chart " id="344" name="Google Shape;344;p18"/>
          <p:cNvPicPr preferRelativeResize="0"/>
          <p:nvPr/>
        </p:nvPicPr>
        <p:blipFill rotWithShape="1">
          <a:blip r:embed="rId4">
            <a:alphaModFix/>
          </a:blip>
          <a:srcRect b="0" l="0" r="0" t="8767"/>
          <a:stretch/>
        </p:blipFill>
        <p:spPr>
          <a:xfrm>
            <a:off x="571500" y="1299875"/>
            <a:ext cx="5596525" cy="5105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9" name="Google Shape;34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419225"/>
            <a:ext cx="2057400" cy="1472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0" name="Google Shape;35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9400" y="1419225"/>
            <a:ext cx="2057400" cy="1472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1" name="Google Shape;35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67300" y="1419225"/>
            <a:ext cx="2057400" cy="1472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0" y="1419225"/>
            <a:ext cx="2057400" cy="14725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63100" y="1419225"/>
            <a:ext cx="2057400" cy="1472505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9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Composite Fund Scorecard (0-100)</a:t>
            </a:r>
            <a:endParaRPr/>
          </a:p>
        </p:txBody>
      </p:sp>
      <p:sp>
        <p:nvSpPr>
          <p:cNvPr id="355" name="Google Shape;355;p19"/>
          <p:cNvSpPr/>
          <p:nvPr/>
        </p:nvSpPr>
        <p:spPr>
          <a:xfrm>
            <a:off x="571500" y="3272730"/>
            <a:ext cx="11049000" cy="256222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6" name="Google Shape;356;p19"/>
          <p:cNvGraphicFramePr/>
          <p:nvPr/>
        </p:nvGraphicFramePr>
        <p:xfrm>
          <a:off x="571500" y="32727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{4FA31FDC-54E5-4064-8AE1-988EEB9CE590}</a:tableStyleId>
              </a:tblPr>
              <a:tblGrid>
                <a:gridCol w="3450275"/>
                <a:gridCol w="1744575"/>
                <a:gridCol w="2158000"/>
                <a:gridCol w="1744575"/>
                <a:gridCol w="1951575"/>
              </a:tblGrid>
              <a:tr h="51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Fund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Category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Sharpe Ratio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Alpha (%)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Final 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540"/>
                    </a:solidFill>
                  </a:tcPr>
                </a:tc>
              </a:tr>
              <a:tr h="51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Nippon India Small Cap Fund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C99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Small Cap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C99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1.45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C99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4.2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C99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88.5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C997"/>
                    </a:solidFill>
                  </a:tcPr>
                </a:tc>
              </a:tr>
              <a:tr h="51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ICICI Prudential Bluechip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C99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Large Cap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C99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1.22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C99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C99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82.1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C997"/>
                    </a:solidFill>
                  </a:tcPr>
                </a:tc>
              </a:tr>
              <a:tr h="51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SBI Equity Hybrid Fund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Hybrid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65.4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HDFC Top 100 Fund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Large Cap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0.88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-0.2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D1D1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58.2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7" name="Google Shape;357;p19"/>
          <p:cNvSpPr txBox="1"/>
          <p:nvPr/>
        </p:nvSpPr>
        <p:spPr>
          <a:xfrm>
            <a:off x="857250" y="1657350"/>
            <a:ext cx="161020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0C997"/>
                </a:solidFill>
                <a:latin typeface="Montserrat"/>
                <a:ea typeface="Montserrat"/>
                <a:cs typeface="Montserrat"/>
                <a:sym typeface="Montserrat"/>
              </a:rPr>
              <a:t>30%</a:t>
            </a:r>
            <a:endParaRPr/>
          </a:p>
        </p:txBody>
      </p:sp>
      <p:sp>
        <p:nvSpPr>
          <p:cNvPr id="358" name="Google Shape;358;p19"/>
          <p:cNvSpPr txBox="1"/>
          <p:nvPr/>
        </p:nvSpPr>
        <p:spPr>
          <a:xfrm>
            <a:off x="857250" y="2105025"/>
            <a:ext cx="15335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2540"/>
                </a:solidFill>
                <a:latin typeface="Inter"/>
                <a:ea typeface="Inter"/>
                <a:cs typeface="Inter"/>
                <a:sym typeface="Inter"/>
              </a:rPr>
              <a:t>3-Year Returns</a:t>
            </a:r>
            <a:endParaRPr/>
          </a:p>
        </p:txBody>
      </p:sp>
      <p:sp>
        <p:nvSpPr>
          <p:cNvPr id="359" name="Google Shape;359;p19"/>
          <p:cNvSpPr txBox="1"/>
          <p:nvPr/>
        </p:nvSpPr>
        <p:spPr>
          <a:xfrm>
            <a:off x="3105150" y="1657350"/>
            <a:ext cx="161020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0C997"/>
                </a:solidFill>
                <a:latin typeface="Montserrat"/>
                <a:ea typeface="Montserrat"/>
                <a:cs typeface="Montserrat"/>
                <a:sym typeface="Montserrat"/>
              </a:rPr>
              <a:t>25%</a:t>
            </a:r>
            <a:endParaRPr/>
          </a:p>
        </p:txBody>
      </p:sp>
      <p:sp>
        <p:nvSpPr>
          <p:cNvPr id="360" name="Google Shape;360;p19"/>
          <p:cNvSpPr txBox="1"/>
          <p:nvPr/>
        </p:nvSpPr>
        <p:spPr>
          <a:xfrm>
            <a:off x="3105150" y="2105025"/>
            <a:ext cx="15335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2540"/>
                </a:solidFill>
                <a:latin typeface="Inter"/>
                <a:ea typeface="Inter"/>
                <a:cs typeface="Inter"/>
                <a:sym typeface="Inter"/>
              </a:rPr>
              <a:t>Sharpe Ratio</a:t>
            </a:r>
            <a:endParaRPr/>
          </a:p>
        </p:txBody>
      </p:sp>
      <p:sp>
        <p:nvSpPr>
          <p:cNvPr id="361" name="Google Shape;361;p19"/>
          <p:cNvSpPr txBox="1"/>
          <p:nvPr/>
        </p:nvSpPr>
        <p:spPr>
          <a:xfrm>
            <a:off x="5353050" y="1657350"/>
            <a:ext cx="161020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0C997"/>
                </a:solidFill>
                <a:latin typeface="Montserrat"/>
                <a:ea typeface="Montserrat"/>
                <a:cs typeface="Montserrat"/>
                <a:sym typeface="Montserrat"/>
              </a:rPr>
              <a:t>20%</a:t>
            </a:r>
            <a:endParaRPr/>
          </a:p>
        </p:txBody>
      </p:sp>
      <p:sp>
        <p:nvSpPr>
          <p:cNvPr id="362" name="Google Shape;362;p19"/>
          <p:cNvSpPr txBox="1"/>
          <p:nvPr/>
        </p:nvSpPr>
        <p:spPr>
          <a:xfrm>
            <a:off x="5353050" y="2105025"/>
            <a:ext cx="15335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2540"/>
                </a:solidFill>
                <a:latin typeface="Inter"/>
                <a:ea typeface="Inter"/>
                <a:cs typeface="Inter"/>
                <a:sym typeface="Inter"/>
              </a:rPr>
              <a:t>Alpha vs Nifty 100</a:t>
            </a:r>
            <a:endParaRPr/>
          </a:p>
        </p:txBody>
      </p:sp>
      <p:sp>
        <p:nvSpPr>
          <p:cNvPr id="363" name="Google Shape;363;p19"/>
          <p:cNvSpPr txBox="1"/>
          <p:nvPr/>
        </p:nvSpPr>
        <p:spPr>
          <a:xfrm>
            <a:off x="7600950" y="1657350"/>
            <a:ext cx="161020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0C997"/>
                </a:solidFill>
                <a:latin typeface="Montserrat"/>
                <a:ea typeface="Montserrat"/>
                <a:cs typeface="Montserrat"/>
                <a:sym typeface="Montserrat"/>
              </a:rPr>
              <a:t>15%</a:t>
            </a:r>
            <a:endParaRPr/>
          </a:p>
        </p:txBody>
      </p:sp>
      <p:sp>
        <p:nvSpPr>
          <p:cNvPr id="364" name="Google Shape;364;p19"/>
          <p:cNvSpPr txBox="1"/>
          <p:nvPr/>
        </p:nvSpPr>
        <p:spPr>
          <a:xfrm>
            <a:off x="7600950" y="2105025"/>
            <a:ext cx="15335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2540"/>
                </a:solidFill>
                <a:latin typeface="Inter"/>
                <a:ea typeface="Inter"/>
                <a:cs typeface="Inter"/>
                <a:sym typeface="Inter"/>
              </a:rPr>
              <a:t>Expense Ratio (Inv)</a:t>
            </a:r>
            <a:endParaRPr/>
          </a:p>
        </p:txBody>
      </p:sp>
      <p:sp>
        <p:nvSpPr>
          <p:cNvPr id="365" name="Google Shape;365;p19"/>
          <p:cNvSpPr txBox="1"/>
          <p:nvPr/>
        </p:nvSpPr>
        <p:spPr>
          <a:xfrm>
            <a:off x="9848850" y="1657350"/>
            <a:ext cx="1610201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0C997"/>
                </a:solidFill>
                <a:latin typeface="Montserrat"/>
                <a:ea typeface="Montserrat"/>
                <a:cs typeface="Montserrat"/>
                <a:sym typeface="Montserrat"/>
              </a:rPr>
              <a:t>10%</a:t>
            </a:r>
            <a:endParaRPr/>
          </a:p>
        </p:txBody>
      </p:sp>
      <p:sp>
        <p:nvSpPr>
          <p:cNvPr id="366" name="Google Shape;366;p19"/>
          <p:cNvSpPr txBox="1"/>
          <p:nvPr/>
        </p:nvSpPr>
        <p:spPr>
          <a:xfrm>
            <a:off x="9848850" y="2105025"/>
            <a:ext cx="15335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A2540"/>
                </a:solidFill>
                <a:latin typeface="Inter"/>
                <a:ea typeface="Inter"/>
                <a:cs typeface="Inter"/>
                <a:sym typeface="Inter"/>
              </a:rPr>
              <a:t>Max Drawdown</a:t>
            </a:r>
            <a:endParaRPr/>
          </a:p>
        </p:txBody>
      </p:sp>
      <p:sp>
        <p:nvSpPr>
          <p:cNvPr id="367" name="Google Shape;367;p19"/>
          <p:cNvSpPr/>
          <p:nvPr/>
        </p:nvSpPr>
        <p:spPr>
          <a:xfrm>
            <a:off x="571500" y="4315717"/>
            <a:ext cx="34502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9"/>
          <p:cNvSpPr/>
          <p:nvPr/>
        </p:nvSpPr>
        <p:spPr>
          <a:xfrm>
            <a:off x="4021782" y="4315717"/>
            <a:ext cx="17445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9"/>
          <p:cNvSpPr/>
          <p:nvPr/>
        </p:nvSpPr>
        <p:spPr>
          <a:xfrm>
            <a:off x="5766345" y="4315717"/>
            <a:ext cx="21580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9"/>
          <p:cNvSpPr/>
          <p:nvPr/>
        </p:nvSpPr>
        <p:spPr>
          <a:xfrm>
            <a:off x="7924353" y="4315717"/>
            <a:ext cx="17445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9"/>
          <p:cNvSpPr/>
          <p:nvPr/>
        </p:nvSpPr>
        <p:spPr>
          <a:xfrm>
            <a:off x="9668916" y="4315717"/>
            <a:ext cx="19515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9"/>
          <p:cNvSpPr/>
          <p:nvPr/>
        </p:nvSpPr>
        <p:spPr>
          <a:xfrm>
            <a:off x="571500" y="4820542"/>
            <a:ext cx="34502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9"/>
          <p:cNvSpPr/>
          <p:nvPr/>
        </p:nvSpPr>
        <p:spPr>
          <a:xfrm>
            <a:off x="4021782" y="4820542"/>
            <a:ext cx="17445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9"/>
          <p:cNvSpPr/>
          <p:nvPr/>
        </p:nvSpPr>
        <p:spPr>
          <a:xfrm>
            <a:off x="5766345" y="4820542"/>
            <a:ext cx="21580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9"/>
          <p:cNvSpPr/>
          <p:nvPr/>
        </p:nvSpPr>
        <p:spPr>
          <a:xfrm>
            <a:off x="7924353" y="4820542"/>
            <a:ext cx="17445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9"/>
          <p:cNvSpPr/>
          <p:nvPr/>
        </p:nvSpPr>
        <p:spPr>
          <a:xfrm>
            <a:off x="9668916" y="4820542"/>
            <a:ext cx="19515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9"/>
          <p:cNvSpPr/>
          <p:nvPr/>
        </p:nvSpPr>
        <p:spPr>
          <a:xfrm>
            <a:off x="571500" y="5325367"/>
            <a:ext cx="34502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9"/>
          <p:cNvSpPr/>
          <p:nvPr/>
        </p:nvSpPr>
        <p:spPr>
          <a:xfrm>
            <a:off x="4021782" y="5325367"/>
            <a:ext cx="17445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9"/>
          <p:cNvSpPr/>
          <p:nvPr/>
        </p:nvSpPr>
        <p:spPr>
          <a:xfrm>
            <a:off x="5766345" y="5325367"/>
            <a:ext cx="21580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9"/>
          <p:cNvSpPr/>
          <p:nvPr/>
        </p:nvSpPr>
        <p:spPr>
          <a:xfrm>
            <a:off x="7924353" y="5325367"/>
            <a:ext cx="17445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9"/>
          <p:cNvSpPr/>
          <p:nvPr/>
        </p:nvSpPr>
        <p:spPr>
          <a:xfrm>
            <a:off x="9668916" y="5325367"/>
            <a:ext cx="19515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6" name="Google Shape;38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66862"/>
            <a:ext cx="607695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0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Advanced Risk Analytics</a:t>
            </a:r>
            <a:endParaRPr/>
          </a:p>
        </p:txBody>
      </p:sp>
      <p:sp>
        <p:nvSpPr>
          <p:cNvPr id="388" name="Google Shape;388;p20"/>
          <p:cNvSpPr txBox="1"/>
          <p:nvPr/>
        </p:nvSpPr>
        <p:spPr>
          <a:xfrm>
            <a:off x="7458075" y="2697509"/>
            <a:ext cx="41624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95% Value at Risk (VaR):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Quantified maximum potential daily loss boundaries to protect downside capital.</a:t>
            </a:r>
            <a:endParaRPr/>
          </a:p>
        </p:txBody>
      </p:sp>
      <p:sp>
        <p:nvSpPr>
          <p:cNvPr id="389" name="Google Shape;389;p20"/>
          <p:cNvSpPr txBox="1"/>
          <p:nvPr/>
        </p:nvSpPr>
        <p:spPr>
          <a:xfrm>
            <a:off x="7458075" y="3663255"/>
            <a:ext cx="41624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Sortino Ratio: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Isolated and penalized only downside volatility for superior clarity on true risk.</a:t>
            </a:r>
            <a:endParaRPr/>
          </a:p>
        </p:txBody>
      </p:sp>
      <p:sp>
        <p:nvSpPr>
          <p:cNvPr id="390" name="Google Shape;390;p20"/>
          <p:cNvSpPr txBox="1"/>
          <p:nvPr/>
        </p:nvSpPr>
        <p:spPr>
          <a:xfrm>
            <a:off x="7458075" y="4354710"/>
            <a:ext cx="41624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CAPM Modeling: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Calculated fund Beta via OLS regression against the Nifty 100 benchmark.</a:t>
            </a:r>
            <a:endParaRPr/>
          </a:p>
        </p:txBody>
      </p:sp>
      <p:pic>
        <p:nvPicPr>
          <p:cNvPr descr="image.png" id="391" name="Google Shape;39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19950" y="271655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2" name="Google Shape;39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19950" y="368230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3" name="Google Shape;39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19950" y="437376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20"/>
          <p:cNvPicPr preferRelativeResize="0"/>
          <p:nvPr/>
        </p:nvPicPr>
        <p:blipFill rotWithShape="1">
          <a:blip r:embed="rId5">
            <a:alphaModFix/>
          </a:blip>
          <a:srcRect b="0" l="19080" r="5653" t="6428"/>
          <a:stretch/>
        </p:blipFill>
        <p:spPr>
          <a:xfrm>
            <a:off x="571500" y="1566849"/>
            <a:ext cx="6281825" cy="468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1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Dashboard Insights: Market Overview</a:t>
            </a:r>
            <a:endParaRPr/>
          </a:p>
        </p:txBody>
      </p:sp>
      <p:sp>
        <p:nvSpPr>
          <p:cNvPr id="400" name="Google Shape;400;p21"/>
          <p:cNvSpPr/>
          <p:nvPr/>
        </p:nvSpPr>
        <p:spPr>
          <a:xfrm>
            <a:off x="552450" y="1504950"/>
            <a:ext cx="6896100" cy="3905400"/>
          </a:xfrm>
          <a:prstGeom prst="roundRect">
            <a:avLst>
              <a:gd fmla="val 3414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1" name="Google Shape;401;p21"/>
          <p:cNvPicPr preferRelativeResize="0"/>
          <p:nvPr/>
        </p:nvPicPr>
        <p:blipFill rotWithShape="1">
          <a:blip r:embed="rId3">
            <a:alphaModFix/>
          </a:blip>
          <a:srcRect b="70" l="0" r="0" t="60"/>
          <a:stretch/>
        </p:blipFill>
        <p:spPr>
          <a:xfrm>
            <a:off x="571500" y="1524000"/>
            <a:ext cx="6858000" cy="38673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1"/>
          <p:cNvSpPr/>
          <p:nvPr/>
        </p:nvSpPr>
        <p:spPr>
          <a:xfrm>
            <a:off x="7810500" y="1524000"/>
            <a:ext cx="3810000" cy="1809600"/>
          </a:xfrm>
          <a:prstGeom prst="roundRect">
            <a:avLst>
              <a:gd fmla="val 631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1"/>
          <p:cNvSpPr/>
          <p:nvPr/>
        </p:nvSpPr>
        <p:spPr>
          <a:xfrm>
            <a:off x="7810500" y="1524000"/>
            <a:ext cx="57300" cy="1809600"/>
          </a:xfrm>
          <a:prstGeom prst="roundRect">
            <a:avLst>
              <a:gd fmla="val 50000" name="adj"/>
            </a:avLst>
          </a:prstGeom>
          <a:solidFill>
            <a:srgbClr val="20C99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1"/>
          <p:cNvSpPr txBox="1"/>
          <p:nvPr/>
        </p:nvSpPr>
        <p:spPr>
          <a:xfrm>
            <a:off x="8096250" y="1524000"/>
            <a:ext cx="3238500" cy="18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0C997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analytics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Executive KPIs</a:t>
            </a:r>
            <a:endParaRPr b="1" sz="1600">
              <a:solidFill>
                <a:srgbClr val="0A254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Real-time tracking of ₹81L Cr AUM and 26.12 Cr Active Folios.</a:t>
            </a:r>
            <a:endParaRPr b="0" sz="12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5" name="Google Shape;405;p21"/>
          <p:cNvSpPr/>
          <p:nvPr/>
        </p:nvSpPr>
        <p:spPr>
          <a:xfrm>
            <a:off x="7810500" y="3581400"/>
            <a:ext cx="3810000" cy="1809600"/>
          </a:xfrm>
          <a:prstGeom prst="roundRect">
            <a:avLst>
              <a:gd fmla="val 631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1"/>
          <p:cNvSpPr/>
          <p:nvPr/>
        </p:nvSpPr>
        <p:spPr>
          <a:xfrm>
            <a:off x="7810500" y="3581400"/>
            <a:ext cx="57300" cy="1809600"/>
          </a:xfrm>
          <a:prstGeom prst="roundRect">
            <a:avLst>
              <a:gd fmla="val 50000" name="adj"/>
            </a:avLst>
          </a:prstGeom>
          <a:solidFill>
            <a:srgbClr val="20C99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1"/>
          <p:cNvSpPr txBox="1"/>
          <p:nvPr/>
        </p:nvSpPr>
        <p:spPr>
          <a:xfrm>
            <a:off x="8096250" y="3581400"/>
            <a:ext cx="3238500" cy="18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20C997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filter_alt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Interactive Slicers</a:t>
            </a:r>
            <a:endParaRPr b="1" sz="1600">
              <a:solidFill>
                <a:srgbClr val="0A254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Stakeholders can dynamically filter macroeconomic views by specific Fund Houses or Categories.</a:t>
            </a:r>
            <a:endParaRPr b="0" sz="120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2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Dashboard Insights: Fund Performance</a:t>
            </a:r>
            <a:endParaRPr/>
          </a:p>
        </p:txBody>
      </p:sp>
      <p:sp>
        <p:nvSpPr>
          <p:cNvPr id="413" name="Google Shape;413;p22"/>
          <p:cNvSpPr txBox="1"/>
          <p:nvPr/>
        </p:nvSpPr>
        <p:spPr>
          <a:xfrm>
            <a:off x="8358600" y="2171491"/>
            <a:ext cx="356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Risk vs. Return Plot</a:t>
            </a:r>
            <a:endParaRPr/>
          </a:p>
        </p:txBody>
      </p:sp>
      <p:sp>
        <p:nvSpPr>
          <p:cNvPr id="414" name="Google Shape;414;p22"/>
          <p:cNvSpPr txBox="1"/>
          <p:nvPr/>
        </p:nvSpPr>
        <p:spPr>
          <a:xfrm>
            <a:off x="8358600" y="2632412"/>
            <a:ext cx="339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Visually isolates funds offering high Alpha with low Volatility (bubble size = AUM).</a:t>
            </a:r>
            <a:endParaRPr/>
          </a:p>
        </p:txBody>
      </p:sp>
      <p:sp>
        <p:nvSpPr>
          <p:cNvPr id="415" name="Google Shape;415;p22"/>
          <p:cNvSpPr txBox="1"/>
          <p:nvPr/>
        </p:nvSpPr>
        <p:spPr>
          <a:xfrm>
            <a:off x="8358600" y="3689687"/>
            <a:ext cx="356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Real-time Drill-through</a:t>
            </a:r>
            <a:endParaRPr/>
          </a:p>
        </p:txBody>
      </p:sp>
      <p:sp>
        <p:nvSpPr>
          <p:cNvPr id="416" name="Google Shape;416;p22"/>
          <p:cNvSpPr txBox="1"/>
          <p:nvPr/>
        </p:nvSpPr>
        <p:spPr>
          <a:xfrm>
            <a:off x="8358600" y="4150608"/>
            <a:ext cx="3390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Pivot from industry overview to specific 4.5-year NAV trends and benchmark comparisons instantly.</a:t>
            </a:r>
            <a:endParaRPr/>
          </a:p>
        </p:txBody>
      </p:sp>
      <p:pic>
        <p:nvPicPr>
          <p:cNvPr id="417" name="Google Shape;4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900" y="1763450"/>
            <a:ext cx="7726275" cy="4357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2" name="Google Shape;42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419225"/>
            <a:ext cx="3429000" cy="486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3" name="Google Shape;42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1419225"/>
            <a:ext cx="3429000" cy="486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4" name="Google Shape;42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0" y="1419225"/>
            <a:ext cx="3429000" cy="4867275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23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Strategic Recommendations</a:t>
            </a:r>
            <a:endParaRPr/>
          </a:p>
        </p:txBody>
      </p:sp>
      <p:pic>
        <p:nvPicPr>
          <p:cNvPr descr="image.png" id="426" name="Google Shape;42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47875" y="194310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23"/>
          <p:cNvSpPr txBox="1"/>
          <p:nvPr/>
        </p:nvSpPr>
        <p:spPr>
          <a:xfrm>
            <a:off x="1330880" y="2705100"/>
            <a:ext cx="191023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Alpha is Scarce</a:t>
            </a:r>
            <a:endParaRPr/>
          </a:p>
        </p:txBody>
      </p:sp>
      <p:sp>
        <p:nvSpPr>
          <p:cNvPr id="428" name="Google Shape;428;p23"/>
          <p:cNvSpPr txBox="1"/>
          <p:nvPr/>
        </p:nvSpPr>
        <p:spPr>
          <a:xfrm>
            <a:off x="952500" y="3171825"/>
            <a:ext cx="266700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Only 15% of actively managed large-cap funds consistently outperformed their respective benchmarks post-expense ratio.</a:t>
            </a:r>
            <a:endParaRPr/>
          </a:p>
        </p:txBody>
      </p:sp>
      <p:pic>
        <p:nvPicPr>
          <p:cNvPr descr="image.png" id="429" name="Google Shape;42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57875" y="194310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3"/>
          <p:cNvSpPr txBox="1"/>
          <p:nvPr/>
        </p:nvSpPr>
        <p:spPr>
          <a:xfrm>
            <a:off x="4730829" y="2705100"/>
            <a:ext cx="273034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Drawdown Resilience</a:t>
            </a:r>
            <a:endParaRPr/>
          </a:p>
        </p:txBody>
      </p:sp>
      <p:sp>
        <p:nvSpPr>
          <p:cNvPr id="431" name="Google Shape;431;p23"/>
          <p:cNvSpPr txBox="1"/>
          <p:nvPr/>
        </p:nvSpPr>
        <p:spPr>
          <a:xfrm>
            <a:off x="4762500" y="3171825"/>
            <a:ext cx="266700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High-Sharpe ratio funds demonstrated significantly better capital preservation during periods of high market volatility.</a:t>
            </a:r>
            <a:endParaRPr/>
          </a:p>
        </p:txBody>
      </p:sp>
      <p:pic>
        <p:nvPicPr>
          <p:cNvPr descr="image.png" id="432" name="Google Shape;432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25025" y="1943100"/>
            <a:ext cx="3619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23"/>
          <p:cNvSpPr txBox="1"/>
          <p:nvPr/>
        </p:nvSpPr>
        <p:spPr>
          <a:xfrm>
            <a:off x="8505825" y="2705100"/>
            <a:ext cx="28003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Automated Recommendations</a:t>
            </a:r>
            <a:endParaRPr/>
          </a:p>
        </p:txBody>
      </p:sp>
      <p:sp>
        <p:nvSpPr>
          <p:cNvPr id="434" name="Google Shape;434;p23"/>
          <p:cNvSpPr txBox="1"/>
          <p:nvPr/>
        </p:nvSpPr>
        <p:spPr>
          <a:xfrm>
            <a:off x="8572500" y="3448050"/>
            <a:ext cx="2667000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Deploy the Python Recommender Engine algorithm into the retail app to match investors with their optimal risk-grade funds.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4"/>
          <p:cNvSpPr txBox="1"/>
          <p:nvPr/>
        </p:nvSpPr>
        <p:spPr>
          <a:xfrm>
            <a:off x="295275" y="1222027"/>
            <a:ext cx="1160145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A2540"/>
                </a:solidFill>
                <a:latin typeface="Montserrat"/>
                <a:ea typeface="Montserrat"/>
                <a:cs typeface="Montserrat"/>
                <a:sym typeface="Montserrat"/>
              </a:rPr>
              <a:t>Thank You. Questions?</a:t>
            </a:r>
            <a:endParaRPr/>
          </a:p>
        </p:txBody>
      </p:sp>
      <p:sp>
        <p:nvSpPr>
          <p:cNvPr id="440" name="Google Shape;440;p24"/>
          <p:cNvSpPr txBox="1"/>
          <p:nvPr/>
        </p:nvSpPr>
        <p:spPr>
          <a:xfrm>
            <a:off x="571500" y="2374552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End-to-End Analytics Pipeline Ready for Production</a:t>
            </a:r>
            <a:endParaRPr/>
          </a:p>
        </p:txBody>
      </p:sp>
      <p:pic>
        <p:nvPicPr>
          <p:cNvPr descr="image.png" id="441" name="Google Shape;44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500" y="3216473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24"/>
          <p:cNvSpPr txBox="1"/>
          <p:nvPr/>
        </p:nvSpPr>
        <p:spPr>
          <a:xfrm>
            <a:off x="571500" y="5407223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A2540"/>
                </a:solidFill>
                <a:latin typeface="Inter Medium"/>
                <a:ea typeface="Inter Medium"/>
                <a:cs typeface="Inter Medium"/>
                <a:sym typeface="Inter Medium"/>
              </a:rPr>
              <a:t>View the Codebase : </a:t>
            </a:r>
            <a:r>
              <a:rPr lang="en-US" sz="1500" u="sng">
                <a:solidFill>
                  <a:schemeClr val="hlink"/>
                </a:solidFill>
                <a:latin typeface="Inter Medium"/>
                <a:ea typeface="Inter Medium"/>
                <a:cs typeface="Inter Medium"/>
                <a:sym typeface="Inter Medium"/>
                <a:hlinkClick r:id="rId4"/>
              </a:rPr>
              <a:t>github.com/dheeraj-analytics/bluestock_mf_capstone</a:t>
            </a:r>
            <a:endParaRPr/>
          </a:p>
        </p:txBody>
      </p:sp>
      <p:pic>
        <p:nvPicPr>
          <p:cNvPr id="443" name="Google Shape;443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51750" y="3324725"/>
            <a:ext cx="1688500" cy="168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